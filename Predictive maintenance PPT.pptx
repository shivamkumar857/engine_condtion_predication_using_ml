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72" r:id="rId5"/>
    <p:sldId id="277" r:id="rId6"/>
    <p:sldId id="278" r:id="rId7"/>
    <p:sldId id="268" r:id="rId8"/>
    <p:sldId id="262" r:id="rId9"/>
    <p:sldId id="279" r:id="rId10"/>
    <p:sldId id="280" r:id="rId11"/>
    <p:sldId id="281" r:id="rId12"/>
    <p:sldId id="283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598" autoAdjust="0"/>
  </p:normalViewPr>
  <p:slideViewPr>
    <p:cSldViewPr snapToGrid="0">
      <p:cViewPr varScale="1">
        <p:scale>
          <a:sx n="96" d="100"/>
          <a:sy n="96" d="100"/>
        </p:scale>
        <p:origin x="331" y="62"/>
      </p:cViewPr>
      <p:guideLst>
        <p:guide orient="horz" pos="30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B580E-BB12-458A-8A67-A4E85A97E57A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85773-E831-40C3-B08E-FE9BDAA69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5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16BEC-AB1A-4058-9324-07F33219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DE4BD-38C7-497D-AE63-0EC22E33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D80C8-9EBF-4D2D-A9FA-CC9421EA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 dirty="0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E162AE6-C2BA-4446-A2D9-41A8F1A6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A267802-5F0D-4EE1-AF9D-EF2E4F23C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75" y="0"/>
            <a:ext cx="43861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728D93-929A-4CAF-A102-3C217E917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361" y="428903"/>
            <a:ext cx="3071005" cy="3051391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</a:lstStyle>
          <a:p>
            <a:pPr>
              <a:tabLst>
                <a:tab pos="3370263" algn="l"/>
              </a:tabLst>
            </a:pPr>
            <a:r>
              <a:rPr lang="en-US" sz="4000">
                <a:solidFill>
                  <a:schemeClr val="tx2">
                    <a:alpha val="75000"/>
                  </a:schemeClr>
                </a:solidFill>
              </a:rPr>
              <a:t>Click to edit Master title style</a:t>
            </a:r>
            <a:endParaRPr lang="en-US" sz="4000" dirty="0">
              <a:solidFill>
                <a:schemeClr val="tx2">
                  <a:alpha val="75000"/>
                </a:schemeClr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81702E9-0038-4210-9FAB-E76C1EF85C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4876" y="5116529"/>
            <a:ext cx="2948684" cy="955497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subtitle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E1655C-FA7C-42D9-8EE1-E7CF698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1747479" y="3853642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441E9C-E7AE-4B2E-A8FF-F364980D90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3024" y="0"/>
            <a:ext cx="7808976" cy="685800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283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0" userDrawn="1">
          <p15:clr>
            <a:srgbClr val="FBAE40"/>
          </p15:clr>
        </p15:guide>
        <p15:guide id="2" pos="39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665A6970-043A-47D8-B545-755078B0D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86AC1DD3-428F-4C39-A551-E13ABD51B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647700"/>
            <a:ext cx="3483421" cy="2866599"/>
          </a:xfrm>
        </p:spPr>
        <p:txBody>
          <a:bodyPr>
            <a:normAutofit/>
          </a:bodyPr>
          <a:lstStyle/>
          <a:p>
            <a:pPr algn="r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61C8BF-A13F-41C7-AD96-FF1FF2487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44305"/>
            <a:ext cx="0" cy="1610436"/>
          </a:xfrm>
          <a:prstGeom prst="line">
            <a:avLst/>
          </a:prstGeom>
          <a:ln w="19050">
            <a:solidFill>
              <a:schemeClr val="accent1">
                <a:lumMod val="7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48B2C18-58F4-4964-8F53-1A6C5CA46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909" y="647700"/>
            <a:ext cx="6401231" cy="2982604"/>
          </a:xfrm>
        </p:spPr>
        <p:txBody>
          <a:bodyPr anchor="ctr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0AF7978-E274-4580-9576-25C42D06B2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512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C26149A3-CFBC-4F7F-B065-171177885A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16041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47CA6D41-6659-4919-BF3F-FCA2AB53F4F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4570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20E6777B-4AD1-427E-904E-21086E7318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3100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7E0D4C96-36DA-4C90-B4F7-FD78F9F06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DCC27624-76B0-4BB8-B6D9-C01BCCE65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5D71582-7D60-491E-945E-00A9A6A2E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283E6C1-A698-44ED-B112-2185C527C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B8DA9715-F69D-45C0-8C20-D2327172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64" y="1034470"/>
            <a:ext cx="10515600" cy="899783"/>
          </a:xfrm>
        </p:spPr>
        <p:txBody>
          <a:bodyPr wrap="none" anchor="ctr">
            <a:noAutofit/>
          </a:bodyPr>
          <a:lstStyle>
            <a:lvl1pPr algn="l">
              <a:spcBef>
                <a:spcPts val="0"/>
              </a:spcBef>
              <a:defRPr baseline="0"/>
            </a:lvl1pPr>
          </a:lstStyle>
          <a:p>
            <a:pPr algn="ct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11834F-2E86-44CF-9B7B-879C54D3E3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164" y="1900962"/>
            <a:ext cx="10112375" cy="1954213"/>
          </a:xfrm>
        </p:spPr>
        <p:txBody>
          <a:bodyPr anchor="t"/>
          <a:lstStyle>
            <a:lvl1pPr marL="0" indent="0" algn="just">
              <a:buNone/>
              <a:defRPr baseline="0"/>
            </a:lvl1pPr>
            <a:lvl2pPr marL="274320" indent="0" algn="ctr">
              <a:buFont typeface="Arial" panose="020B0604020202020204" pitchFamily="34" charset="0"/>
              <a:buNone/>
              <a:defRPr/>
            </a:lvl2pPr>
            <a:lvl3pPr marL="228600" indent="0" algn="ctr">
              <a:buNone/>
              <a:defRPr/>
            </a:lvl3pPr>
            <a:lvl4pPr marL="640080" indent="0" algn="ctr">
              <a:buFont typeface="Arial" panose="020B0604020202020204" pitchFamily="34" charset="0"/>
              <a:buNone/>
              <a:defRPr/>
            </a:lvl4pPr>
            <a:lvl5pPr marL="685800" indent="0" algn="ct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6B13C98-6A68-488A-A861-3651BEFFD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160520"/>
            <a:ext cx="4067175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938ABF9-B914-4702-BD3C-440D785C4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A8DDEC8E-7A5B-45B1-87C2-928F65F6DC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59936" y="4160520"/>
            <a:ext cx="4133088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3D694128-BF72-4548-B72F-CAFBFD234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E558F1D-66DC-426F-B815-D10EB6BC4E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4" y="4160520"/>
            <a:ext cx="4005072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C1452B-8D51-4F49-9A26-8D49BCE7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50899" y="1555564"/>
            <a:ext cx="4290204" cy="0"/>
          </a:xfrm>
          <a:prstGeom prst="line">
            <a:avLst/>
          </a:prstGeom>
          <a:ln w="19050">
            <a:solidFill>
              <a:schemeClr val="accent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8719BE9-7631-4214-B581-04437DDA5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7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6AF1EB8-173E-4BDF-9FB9-340DC5FC2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44A6C40-5A2B-4859-A8AE-52464ACB6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5059252"/>
            <a:ext cx="6874327" cy="1209275"/>
          </a:xfrm>
        </p:spPr>
        <p:txBody>
          <a:bodyPr anchor="ctr">
            <a:normAutofit/>
          </a:bodyPr>
          <a:lstStyle>
            <a:lvl1pPr algn="l">
              <a:defRPr/>
            </a:lvl1pPr>
          </a:lstStyle>
          <a:p>
            <a:pPr algn="r"/>
            <a:r>
              <a:rPr lang="en-US" sz="4000"/>
              <a:t>Click to edit Master title style</a:t>
            </a:r>
            <a:endParaRPr lang="en-US" sz="4000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839C935-8C88-4E41-9CDE-772FDA3DD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8970" y="5056632"/>
            <a:ext cx="3392445" cy="1207008"/>
          </a:xfrm>
        </p:spPr>
        <p:txBody>
          <a:bodyPr anchor="ctr">
            <a:normAutofit/>
          </a:bodyPr>
          <a:lstStyle>
            <a:lvl1pPr marL="0" indent="0">
              <a:buNone/>
              <a:defRPr/>
            </a:lvl1pPr>
          </a:lstStyle>
          <a:p>
            <a:pPr algn="l"/>
            <a:r>
              <a:rPr lang="en-US" sz="1600"/>
              <a:t>Click to edit Master subtitle style</a:t>
            </a:r>
            <a:endParaRPr lang="en-US" sz="16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C6FCBF-78C9-4160-8C8D-C0846C6D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810499" y="5187442"/>
            <a:ext cx="0" cy="875607"/>
          </a:xfrm>
          <a:prstGeom prst="line">
            <a:avLst/>
          </a:prstGeom>
          <a:ln w="15875">
            <a:solidFill>
              <a:schemeClr val="accent1">
                <a:lumMod val="75000"/>
                <a:alpha val="8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950CA0E-635B-46DC-8900-0DD2B472AF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4562856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73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56"/>
            <a:ext cx="10515600" cy="4190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31BABDF-AA85-4A10-A98B-507CF2428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8717800-ADD4-4E93-B0D0-271E7848D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AC3ECC-84E8-497F-BC52-5189149B0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39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3"/>
            <a:ext cx="10515600" cy="3545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1976FF6-0FAE-4806-A07E-BE4D74116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42FFD90-937D-4551-9F0C-7A5B0C78E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D25ED3-40D6-4D4C-BEF6-506E3E31B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1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A8FC83D-BE6C-46F7-A2C9-654DF8EBE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733" y="1679441"/>
            <a:ext cx="10890565" cy="589966"/>
          </a:xfrm>
        </p:spPr>
        <p:txBody>
          <a:bodyPr>
            <a:normAutofit fontScale="90000"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CC3F9D0-953E-45A7-BFD7-C86C68B23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3726" y="2273661"/>
            <a:ext cx="7910623" cy="447630"/>
          </a:xfrm>
        </p:spPr>
        <p:txBody>
          <a:bodyPr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736BCE2-FC35-4992-A912-AF5A5C4EC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507004" y="63219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4AA409B-17E7-4D49-8F3B-D390302E24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8368" y="3063240"/>
            <a:ext cx="5321808" cy="31546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C4FB1A9C-83D8-426D-B62B-A5F7457A969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7920" y="3063240"/>
            <a:ext cx="5321808" cy="31546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4DD44DD-0676-4A2C-9EC4-8E209307E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69BC53C-DA37-4270-B44D-B7A92152A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AFE14D8-0C2B-4AA6-AE7E-75C2C63C2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7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255"/>
            <a:ext cx="10515600" cy="4190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9828424-127F-4F45-AF20-1DAA15255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5D83CCE-F7E1-4106-84E1-6C261DDBB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8126735-73E8-4B98-81A3-AAE94B69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29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1A14-BCE3-4322-A314-ABFB09FB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6213"/>
            <a:ext cx="10515600" cy="22122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DAC2D8E-199B-430A-BB5F-3EB5B76D6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AAF529-3AC9-470F-8794-0C4967080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3327F51-D49D-4DCE-9CDC-3B94731A4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9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5157787" cy="584548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5157787" cy="3751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806038"/>
            <a:ext cx="5183188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390588"/>
            <a:ext cx="5183188" cy="3751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1B2486D-C49D-471B-8F3B-AF604894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F226F4B-CA41-4C71-97F3-1B7E442A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316A3FD-0E7B-4247-AA4F-93E7E99E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7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3200400" cy="584548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3200400" cy="37512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5800" y="1800575"/>
            <a:ext cx="3200400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5800" y="2385125"/>
            <a:ext cx="3200400" cy="37512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66A9EA3-4B2B-44BD-8135-846BF60266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1814" y="1802952"/>
            <a:ext cx="3200400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1C28FB9-37EE-45F6-9277-9FEC0E6CEB2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1814" y="2387502"/>
            <a:ext cx="3200400" cy="37512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965917B-0400-40F0-91DA-4F97FE7238E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564A176B-530D-46DF-8C22-CB3E325D3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64458CC-87E8-440C-A9E9-D8E1E0B493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501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66D479CE-2DE1-4800-948F-385C3CF2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F2DE27B3-A066-47FC-9ACB-6CB080C41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1375939"/>
            <a:ext cx="5448300" cy="1240966"/>
          </a:xfrm>
        </p:spPr>
        <p:txBody>
          <a:bodyPr anchor="ctr">
            <a:normAutofit/>
          </a:bodyPr>
          <a:lstStyle>
            <a:lvl1pPr algn="l">
              <a:defRPr/>
            </a:lvl1pPr>
          </a:lstStyle>
          <a:p>
            <a:pPr algn="ct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0B2E2283-471F-4157-98F4-1943DA10B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1" y="2688119"/>
            <a:ext cx="5115674" cy="3507457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F58127D-BBD9-4655-BEA6-9102178578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8272" y="658368"/>
            <a:ext cx="4809744" cy="260604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C4E959CE-E323-4F7E-9D53-6DE5DD8650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48272" y="3584448"/>
            <a:ext cx="4809744" cy="260604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F4C50B-50BD-44F1-9148-992E83F5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25809" y="63219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764E3EF-900F-4400-84C4-63FBEBB87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3E1CB21E-42E2-4942-BCAD-66952AABB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BDF6841-1F86-481B-A857-4E5AC2672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128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2FD219BD-0F2E-4CDF-AEB4-C1D73E0F1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1A909C9B-71E1-4575-BD94-8C51142F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647700"/>
            <a:ext cx="3680395" cy="1403343"/>
          </a:xfrm>
        </p:spPr>
        <p:txBody>
          <a:bodyPr anchor="ctr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3B6580BC-B32B-4393-8B19-2B3F6B90F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683104"/>
            <a:ext cx="3364358" cy="3673245"/>
          </a:xfrm>
        </p:spPr>
        <p:txBody>
          <a:bodyPr>
            <a:norm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16BEC-AB1A-4058-9324-07F33219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B07FB4E-AACE-4322-82D4-4DA4A81616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048" y="0"/>
            <a:ext cx="7616952" cy="685800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DE4BD-38C7-497D-AE63-0EC22E33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D80C8-9EBF-4D2D-A9FA-CC9421EA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CA4665-3BE9-407E-884C-8EA287083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2099" y="2302005"/>
            <a:ext cx="2253018" cy="0"/>
          </a:xfrm>
          <a:prstGeom prst="line">
            <a:avLst/>
          </a:prstGeom>
          <a:ln w="19050">
            <a:solidFill>
              <a:schemeClr val="accent1">
                <a:lumMod val="7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06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1C62-6E66-44D5-83D2-BADCC737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8113" y="2851343"/>
            <a:ext cx="8490581" cy="1746195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A7876-9D0C-4685-8088-6FED23C9B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7350" y="4846921"/>
            <a:ext cx="6632107" cy="951488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>
                    <a:alpha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E679A24-160E-440A-9984-8923BC4B8DD8}"/>
              </a:ext>
            </a:extLst>
          </p:cNvPr>
          <p:cNvSpPr/>
          <p:nvPr/>
        </p:nvSpPr>
        <p:spPr>
          <a:xfrm rot="20618895" flipH="1">
            <a:off x="5561167" y="1911565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66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26100-27A9-4A24-9347-29B6A9BA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311718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350C3-3185-4A0E-9E1F-504D7E6E0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26924"/>
            <a:ext cx="10515600" cy="12627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7571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902F6-08C1-4F71-90D1-FCA6563EC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11756"/>
            <a:ext cx="5181600" cy="4365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B0FE5-5497-4854-B57F-7955ADCBC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11756"/>
            <a:ext cx="5181600" cy="4365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698B4-B17B-4FAB-894D-5400BDEC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F5B355-1608-4ECA-8C03-3ABD722BC611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868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58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7465-F6D9-414A-9829-B2793D3A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7698"/>
            <a:ext cx="4061821" cy="15585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5B2F-EF96-4A99-8082-911D63A37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47699"/>
            <a:ext cx="6172200" cy="52133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EE3AB-F64B-4276-8303-CAE4B4F1D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6256"/>
            <a:ext cx="4061821" cy="366273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8936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3B7E-262A-4834-9437-C20690BF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FC6C5-CFC6-43FC-9CD2-EB131734F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867985"/>
            <a:ext cx="6172200" cy="49930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AD41B-4C7D-4884-B895-CFDA0A447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136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B555E-8FF5-457E-B328-53ABDB59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2427"/>
            <a:ext cx="10515600" cy="819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64ED7-3275-4F98-88B1-4F0832514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61459"/>
            <a:ext cx="10515600" cy="4340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0BCFA-771C-4297-8ACE-974191C70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317DE-CC16-4596-92A2-460BC081E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6E724-AEC3-4D96-A62C-C286B703F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592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63" r:id="rId3"/>
    <p:sldLayoutId id="2147483661" r:id="rId4"/>
    <p:sldLayoutId id="2147483650" r:id="rId5"/>
    <p:sldLayoutId id="2147483671" r:id="rId6"/>
    <p:sldLayoutId id="2147483670" r:id="rId7"/>
    <p:sldLayoutId id="2147483672" r:id="rId8"/>
    <p:sldLayoutId id="2147483654" r:id="rId9"/>
    <p:sldLayoutId id="2147483653" r:id="rId10"/>
    <p:sldLayoutId id="2147483667" r:id="rId11"/>
    <p:sldLayoutId id="2147483668" r:id="rId12"/>
    <p:sldLayoutId id="2147483669" r:id="rId13"/>
    <p:sldLayoutId id="2147483649" r:id="rId14"/>
    <p:sldLayoutId id="2147483651" r:id="rId15"/>
    <p:sldLayoutId id="2147483652" r:id="rId16"/>
    <p:sldLayoutId id="2147483655" r:id="rId17"/>
    <p:sldLayoutId id="2147483656" r:id="rId18"/>
    <p:sldLayoutId id="2147483657" r:id="rId19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>
              <a:alpha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b="1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2pPr>
      <a:lvl3pPr marL="571500" indent="-3429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i="1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552">
          <p15:clr>
            <a:srgbClr val="F26B43"/>
          </p15:clr>
        </p15:guide>
        <p15:guide id="3" pos="528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408">
          <p15:clr>
            <a:srgbClr val="F26B43"/>
          </p15:clr>
        </p15:guide>
        <p15:guide id="6" pos="7152">
          <p15:clr>
            <a:srgbClr val="F26B43"/>
          </p15:clr>
        </p15:guide>
        <p15:guide id="7" pos="2880">
          <p15:clr>
            <a:srgbClr val="F26B43"/>
          </p15:clr>
        </p15:guide>
        <p15:guide id="8" pos="4248">
          <p15:clr>
            <a:srgbClr val="F26B43"/>
          </p15:clr>
        </p15:guide>
        <p15:guide id="9" orient="horz" pos="600">
          <p15:clr>
            <a:srgbClr val="F26B43"/>
          </p15:clr>
        </p15:guide>
        <p15:guide id="10" orient="horz" pos="3792">
          <p15:clr>
            <a:srgbClr val="F26B43"/>
          </p15:clr>
        </p15:guide>
        <p15:guide id="11" pos="7272">
          <p15:clr>
            <a:srgbClr val="F26B43"/>
          </p15:clr>
        </p15:guide>
        <p15:guide id="12" pos="408">
          <p15:clr>
            <a:srgbClr val="F26B43"/>
          </p15:clr>
        </p15:guide>
        <p15:guide id="13" pos="4920">
          <p15:clr>
            <a:srgbClr val="F26B43"/>
          </p15:clr>
        </p15:guide>
        <p15:guide id="14" pos="2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5A3385-7A97-4B91-90E4-313A5F648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620" y="428904"/>
            <a:ext cx="4051139" cy="1980342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3200" dirty="0"/>
              <a:t>Explainable Fleet Maintenance Predictor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600243-42CA-42D2-A56A-C6924D272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539" y="4838736"/>
            <a:ext cx="3986220" cy="184831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 dirty="0"/>
              <a:t>Mohd Faisal </a:t>
            </a:r>
          </a:p>
          <a:p>
            <a:r>
              <a:rPr lang="en-US" sz="1400" dirty="0"/>
              <a:t>SANJEEV NAYAN</a:t>
            </a:r>
          </a:p>
          <a:p>
            <a:r>
              <a:rPr lang="en-US" sz="1400" dirty="0"/>
              <a:t>SOUMYAJIT MUKHERJEE</a:t>
            </a:r>
          </a:p>
          <a:p>
            <a:r>
              <a:rPr lang="en-US" sz="1400" dirty="0"/>
              <a:t>KAMAL SAINI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9ED679C-E5E3-F842-20FD-5CFB6F241C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6089" b="608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5761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B35439-58EF-1C53-564D-5CFCA6DF11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275C15-F76F-8E9F-45BA-58393F3F18C5}"/>
              </a:ext>
            </a:extLst>
          </p:cNvPr>
          <p:cNvSpPr/>
          <p:nvPr/>
        </p:nvSpPr>
        <p:spPr>
          <a:xfrm>
            <a:off x="1280160" y="0"/>
            <a:ext cx="10911840" cy="685800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5CDEF4E-A460-1BBF-F610-BE2877B3A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42255" y="571182"/>
            <a:ext cx="5715635" cy="57156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581C84-F655-BE6C-F9FF-C41CC5BA5FB7}"/>
              </a:ext>
            </a:extLst>
          </p:cNvPr>
          <p:cNvSpPr txBox="1"/>
          <p:nvPr/>
        </p:nvSpPr>
        <p:spPr>
          <a:xfrm>
            <a:off x="5257800" y="1754681"/>
            <a:ext cx="66751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ECECEC"/>
                </a:solidFill>
                <a:latin typeface="Sitka Heading" pitchFamily="2" charset="0"/>
              </a:rPr>
              <a:t> Predictive Maintenance for Transportation:</a:t>
            </a:r>
          </a:p>
          <a:p>
            <a:endParaRPr lang="en-US" sz="2400" u="sng" dirty="0">
              <a:solidFill>
                <a:srgbClr val="ECECEC"/>
              </a:solidFill>
              <a:latin typeface="Sitka Heading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Implement AI predictive maintenance for transportation vehicles.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Utilize real-time data to anticipate and prevent disruptions.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Minimize downtime and reduce maintenance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Enhance vehicle reliability for uninterrupted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Optimize maintenance schedules for efficient transportation of produce.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u="sng" dirty="0">
              <a:solidFill>
                <a:srgbClr val="ECECEC"/>
              </a:solidFill>
              <a:latin typeface="Sitka Heading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C580F-3AC9-54DC-9625-D96F906D5396}"/>
              </a:ext>
            </a:extLst>
          </p:cNvPr>
          <p:cNvSpPr txBox="1"/>
          <p:nvPr/>
        </p:nvSpPr>
        <p:spPr>
          <a:xfrm>
            <a:off x="5516880" y="554175"/>
            <a:ext cx="491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latin typeface="Sitka Banner" pitchFamily="2" charset="0"/>
              </a:rPr>
              <a:t>PROBLEM STATEMENT:</a:t>
            </a:r>
            <a:endParaRPr lang="en-IN" sz="3600" b="1" u="sng" dirty="0">
              <a:latin typeface="Sitka Bann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69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 L 0.41628 0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07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E61A8-3B1A-50A1-AB69-90D800DB8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E51E29-10F1-0773-11CD-89403D7261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806DD3-27C5-6ACC-C9F4-32A482622496}"/>
              </a:ext>
            </a:extLst>
          </p:cNvPr>
          <p:cNvSpPr/>
          <p:nvPr/>
        </p:nvSpPr>
        <p:spPr>
          <a:xfrm>
            <a:off x="1341120" y="0"/>
            <a:ext cx="10911840" cy="685800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FAF46-1653-D296-BC42-3D4B4A4DDB53}"/>
              </a:ext>
            </a:extLst>
          </p:cNvPr>
          <p:cNvSpPr txBox="1"/>
          <p:nvPr/>
        </p:nvSpPr>
        <p:spPr>
          <a:xfrm>
            <a:off x="4434840" y="1754681"/>
            <a:ext cx="74980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Implements AI-driven predictive maintenance for vehicles.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Collects real-time sensor data and preprocesses it for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Utilizes GBM neural networks to forecast maintenance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Integrates a web application interface for real-time data and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Enables proactive fleet management, cost reduction, and efficient transportation.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779D13-6DD3-D479-CB62-29DBACF10CE6}"/>
              </a:ext>
            </a:extLst>
          </p:cNvPr>
          <p:cNvSpPr txBox="1"/>
          <p:nvPr/>
        </p:nvSpPr>
        <p:spPr>
          <a:xfrm>
            <a:off x="5516880" y="554175"/>
            <a:ext cx="491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latin typeface="Sitka Banner" pitchFamily="2" charset="0"/>
              </a:rPr>
              <a:t>OBJECTIVES:</a:t>
            </a:r>
            <a:endParaRPr lang="en-IN" sz="3600" b="1" u="sng" dirty="0">
              <a:latin typeface="Sitka Banner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299DFF-F2A8-CF6E-1E18-27EACAFBE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2420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7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L 0.31289 0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Date Placeholder 73">
            <a:extLst>
              <a:ext uri="{FF2B5EF4-FFF2-40B4-BE49-F238E27FC236}">
                <a16:creationId xmlns:a16="http://schemas.microsoft.com/office/drawing/2014/main" id="{F58157BD-826A-4A73-AFE3-4DC840C3F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75" name="Footer Placeholder 74">
            <a:extLst>
              <a:ext uri="{FF2B5EF4-FFF2-40B4-BE49-F238E27FC236}">
                <a16:creationId xmlns:a16="http://schemas.microsoft.com/office/drawing/2014/main" id="{CF942400-E869-4121-A513-9B1FADE55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76" name="Slide Number Placeholder 75">
            <a:extLst>
              <a:ext uri="{FF2B5EF4-FFF2-40B4-BE49-F238E27FC236}">
                <a16:creationId xmlns:a16="http://schemas.microsoft.com/office/drawing/2014/main" id="{4FCE912F-09D6-4C14-A807-126C32B03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9D924D-76B5-9A7C-6072-CB15EBA46FF9}"/>
              </a:ext>
            </a:extLst>
          </p:cNvPr>
          <p:cNvSpPr/>
          <p:nvPr/>
        </p:nvSpPr>
        <p:spPr>
          <a:xfrm>
            <a:off x="-33856" y="0"/>
            <a:ext cx="12225855" cy="685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638F377-57B4-47BD-65E9-2861C41FA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991334" y="-400884"/>
            <a:ext cx="2916821" cy="2916821"/>
          </a:xfrm>
          <a:prstGeom prst="rect">
            <a:avLst/>
          </a:prstGeom>
        </p:spPr>
      </p:pic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59F1F8EA-008C-2AE6-8E6D-8146EB0B8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021959"/>
              </p:ext>
            </p:extLst>
          </p:nvPr>
        </p:nvGraphicFramePr>
        <p:xfrm>
          <a:off x="303112" y="3004141"/>
          <a:ext cx="3236091" cy="85652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236091">
                  <a:extLst>
                    <a:ext uri="{9D8B030D-6E8A-4147-A177-3AD203B41FA5}">
                      <a16:colId xmlns:a16="http://schemas.microsoft.com/office/drawing/2014/main" val="1601605112"/>
                    </a:ext>
                  </a:extLst>
                </a:gridCol>
              </a:tblGrid>
              <a:tr h="856526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>
                          <a:solidFill>
                            <a:schemeClr val="bg1"/>
                          </a:solidFill>
                        </a:rPr>
                        <a:t>DATA COLLECTION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: 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ACQUISITION OF INPUT PARAMETERS THROUGH PHYSICAL SENSORS.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070858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B29E153-7A2E-AC10-CDAC-9E5BDF627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336825"/>
              </p:ext>
            </p:extLst>
          </p:nvPr>
        </p:nvGraphicFramePr>
        <p:xfrm>
          <a:off x="303112" y="5061585"/>
          <a:ext cx="3236091" cy="94488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236091">
                  <a:extLst>
                    <a:ext uri="{9D8B030D-6E8A-4147-A177-3AD203B41FA5}">
                      <a16:colId xmlns:a16="http://schemas.microsoft.com/office/drawing/2014/main" val="1601605112"/>
                    </a:ext>
                  </a:extLst>
                </a:gridCol>
              </a:tblGrid>
              <a:tr h="856526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>
                          <a:solidFill>
                            <a:schemeClr val="bg1"/>
                          </a:solidFill>
                        </a:rPr>
                        <a:t>SELECTION OF INPUT PARAMETERS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: 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ENGINE RPM, LUB OIL PRESSURE, FUEL PRESSURE, COOLANT PRESSURE, 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TEMPERATURE DIFFERENCE.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070858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E2C15F27-078E-3199-C108-0E26E9D05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02084"/>
              </p:ext>
            </p:extLst>
          </p:nvPr>
        </p:nvGraphicFramePr>
        <p:xfrm>
          <a:off x="4289142" y="810215"/>
          <a:ext cx="3613716" cy="15849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613716">
                  <a:extLst>
                    <a:ext uri="{9D8B030D-6E8A-4147-A177-3AD203B41FA5}">
                      <a16:colId xmlns:a16="http://schemas.microsoft.com/office/drawing/2014/main" val="1601605112"/>
                    </a:ext>
                  </a:extLst>
                </a:gridCol>
              </a:tblGrid>
              <a:tr h="856526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>
                          <a:solidFill>
                            <a:schemeClr val="bg1"/>
                          </a:solidFill>
                        </a:rPr>
                        <a:t>DATA PREPROCESSING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: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ADDRESSED MISSING VALUES, NAN VALUES BY REPLACING THEM WITH MEAN VALUES.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Z-SCORE TO REMOVE OUTLIERS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DERRIVED NEW FEATURES CALLED TEMPERATURE DIFFERENCE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070858"/>
                  </a:ext>
                </a:extLst>
              </a:tr>
            </a:tbl>
          </a:graphicData>
        </a:graphic>
      </p:graphicFrame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6FF0A9A-55F8-600B-14EC-A14083329A58}"/>
              </a:ext>
            </a:extLst>
          </p:cNvPr>
          <p:cNvCxnSpPr>
            <a:cxnSpLocks/>
          </p:cNvCxnSpPr>
          <p:nvPr/>
        </p:nvCxnSpPr>
        <p:spPr>
          <a:xfrm>
            <a:off x="1931671" y="2240777"/>
            <a:ext cx="11334" cy="7355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1DF7CBE-A3EC-3B41-D922-23DDCFFE0C13}"/>
              </a:ext>
            </a:extLst>
          </p:cNvPr>
          <p:cNvCxnSpPr>
            <a:cxnSpLocks/>
          </p:cNvCxnSpPr>
          <p:nvPr/>
        </p:nvCxnSpPr>
        <p:spPr>
          <a:xfrm>
            <a:off x="1943005" y="4062714"/>
            <a:ext cx="0" cy="8912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AB13A17-314D-C272-8497-29E6F90844E5}"/>
              </a:ext>
            </a:extLst>
          </p:cNvPr>
          <p:cNvCxnSpPr>
            <a:cxnSpLocks/>
          </p:cNvCxnSpPr>
          <p:nvPr/>
        </p:nvCxnSpPr>
        <p:spPr>
          <a:xfrm>
            <a:off x="6062145" y="2657856"/>
            <a:ext cx="0" cy="4819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32C2DDE-1FA8-C105-E841-0AD5ADD08CA1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3539203" y="1602695"/>
            <a:ext cx="749939" cy="39313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7A3270FF-3EE2-1847-8388-4F51B0365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540156"/>
              </p:ext>
            </p:extLst>
          </p:nvPr>
        </p:nvGraphicFramePr>
        <p:xfrm>
          <a:off x="4477954" y="3210952"/>
          <a:ext cx="3424904" cy="109728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424904">
                  <a:extLst>
                    <a:ext uri="{9D8B030D-6E8A-4147-A177-3AD203B41FA5}">
                      <a16:colId xmlns:a16="http://schemas.microsoft.com/office/drawing/2014/main" val="1601605112"/>
                    </a:ext>
                  </a:extLst>
                </a:gridCol>
              </a:tblGrid>
              <a:tr h="856526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>
                          <a:solidFill>
                            <a:schemeClr val="bg1"/>
                          </a:solidFill>
                        </a:rPr>
                        <a:t>MODEL 1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:</a:t>
                      </a:r>
                    </a:p>
                    <a:p>
                      <a:pPr algn="ctr"/>
                      <a:r>
                        <a:rPr lang="en-US" sz="1600" b="0" i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GRADIENT BOOSTING CLASSIFIER: </a:t>
                      </a:r>
                    </a:p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Excels with complex feature-target relationships.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070858"/>
                  </a:ext>
                </a:extLst>
              </a:tr>
            </a:tbl>
          </a:graphicData>
        </a:graphic>
      </p:graphicFrame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B5CDF70D-A187-1D8F-4F69-65BD28BEA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825325"/>
              </p:ext>
            </p:extLst>
          </p:nvPr>
        </p:nvGraphicFramePr>
        <p:xfrm>
          <a:off x="4477954" y="5083373"/>
          <a:ext cx="3424904" cy="85652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424904">
                  <a:extLst>
                    <a:ext uri="{9D8B030D-6E8A-4147-A177-3AD203B41FA5}">
                      <a16:colId xmlns:a16="http://schemas.microsoft.com/office/drawing/2014/main" val="1601605112"/>
                    </a:ext>
                  </a:extLst>
                </a:gridCol>
              </a:tblGrid>
              <a:tr h="8565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 dirty="0">
                          <a:solidFill>
                            <a:schemeClr val="bg1"/>
                          </a:solidFill>
                        </a:rPr>
                        <a:t>POST-PROCESSING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: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PROBABILITY BASED MAINTENANCE ESTIMATION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070858"/>
                  </a:ext>
                </a:extLst>
              </a:tr>
            </a:tbl>
          </a:graphicData>
        </a:graphic>
      </p:graphicFrame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B05C9D-543F-F7F4-62B0-34BC07160FA7}"/>
              </a:ext>
            </a:extLst>
          </p:cNvPr>
          <p:cNvCxnSpPr>
            <a:cxnSpLocks/>
          </p:cNvCxnSpPr>
          <p:nvPr/>
        </p:nvCxnSpPr>
        <p:spPr>
          <a:xfrm>
            <a:off x="6096000" y="4552072"/>
            <a:ext cx="0" cy="4819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2" name="Picture 81">
            <a:extLst>
              <a:ext uri="{FF2B5EF4-FFF2-40B4-BE49-F238E27FC236}">
                <a16:creationId xmlns:a16="http://schemas.microsoft.com/office/drawing/2014/main" id="{611E1D44-E650-DBB7-527C-A502B3068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498" y="3448768"/>
            <a:ext cx="2988620" cy="2491131"/>
          </a:xfrm>
          <a:prstGeom prst="rect">
            <a:avLst/>
          </a:prstGeom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D3C482C-D440-0590-78D0-BA94B17CF770}"/>
              </a:ext>
            </a:extLst>
          </p:cNvPr>
          <p:cNvCxnSpPr/>
          <p:nvPr/>
        </p:nvCxnSpPr>
        <p:spPr>
          <a:xfrm>
            <a:off x="7943515" y="5511636"/>
            <a:ext cx="60960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23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33333E-6 L 0.28411 -0.0141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06" y="-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Date Placeholder 181">
            <a:extLst>
              <a:ext uri="{FF2B5EF4-FFF2-40B4-BE49-F238E27FC236}">
                <a16:creationId xmlns:a16="http://schemas.microsoft.com/office/drawing/2014/main" id="{0B26E46E-EDB2-4F95-99F9-6B864973B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83" name="Footer Placeholder 182">
            <a:extLst>
              <a:ext uri="{FF2B5EF4-FFF2-40B4-BE49-F238E27FC236}">
                <a16:creationId xmlns:a16="http://schemas.microsoft.com/office/drawing/2014/main" id="{32ABAB91-7623-454A-93BD-560C00AB8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184" name="Slide Number Placeholder 183">
            <a:extLst>
              <a:ext uri="{FF2B5EF4-FFF2-40B4-BE49-F238E27FC236}">
                <a16:creationId xmlns:a16="http://schemas.microsoft.com/office/drawing/2014/main" id="{F09696C5-2D5D-4774-8ED7-53F2BB60D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E95CB5-58DB-19C1-26DE-62BD8AF9ABE8}"/>
              </a:ext>
            </a:extLst>
          </p:cNvPr>
          <p:cNvSpPr txBox="1"/>
          <p:nvPr/>
        </p:nvSpPr>
        <p:spPr>
          <a:xfrm>
            <a:off x="2767580" y="1005245"/>
            <a:ext cx="6656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latin typeface="Sitka Banner" pitchFamily="2" charset="0"/>
              </a:rPr>
              <a:t>GRADIENT BOOSTING CLASSIFIER</a:t>
            </a:r>
            <a:r>
              <a:rPr lang="en-US" sz="2800" u="sng" dirty="0">
                <a:latin typeface="Sitka Banner" pitchFamily="2" charset="0"/>
              </a:rPr>
              <a:t>: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6B4C1-06D8-3BE2-0B5B-83DDA4C89086}"/>
              </a:ext>
            </a:extLst>
          </p:cNvPr>
          <p:cNvSpPr txBox="1"/>
          <p:nvPr/>
        </p:nvSpPr>
        <p:spPr>
          <a:xfrm>
            <a:off x="1662895" y="2067103"/>
            <a:ext cx="88662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itka Heading" pitchFamily="2" charset="0"/>
              </a:rPr>
              <a:t>GBM is an ensemble learning method for regression and classification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itka Heading" pitchFamily="2" charset="0"/>
              </a:rPr>
              <a:t>It uses decision trees as base learners, typically shallow 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itka Heading" pitchFamily="2" charset="0"/>
              </a:rPr>
              <a:t>Trees are added sequentially, each correcting errors made by previous 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itka Heading" pitchFamily="2" charset="0"/>
              </a:rPr>
              <a:t>GBM minimizes loss function iteratively using gradient descent optimization.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itka Heading" pitchFamily="2" charset="0"/>
              </a:rPr>
              <a:t>Hyperparameters are tuned for optimal performance, and feature importance analysis provides insight into predictive factors.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Sitka Heading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3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96B83-D455-42E0-B10D-6465005C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Date Placeholder 181">
            <a:extLst>
              <a:ext uri="{FF2B5EF4-FFF2-40B4-BE49-F238E27FC236}">
                <a16:creationId xmlns:a16="http://schemas.microsoft.com/office/drawing/2014/main" id="{4617C858-AB09-FE37-B880-0D9563174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83" name="Footer Placeholder 182">
            <a:extLst>
              <a:ext uri="{FF2B5EF4-FFF2-40B4-BE49-F238E27FC236}">
                <a16:creationId xmlns:a16="http://schemas.microsoft.com/office/drawing/2014/main" id="{925DC664-A64E-0F28-96B8-6C61CA415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184" name="Slide Number Placeholder 183">
            <a:extLst>
              <a:ext uri="{FF2B5EF4-FFF2-40B4-BE49-F238E27FC236}">
                <a16:creationId xmlns:a16="http://schemas.microsoft.com/office/drawing/2014/main" id="{4E5F8EB6-3997-93A2-A775-017B4A4C1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B60D28-CC8D-6F25-4093-77E56777988C}"/>
              </a:ext>
            </a:extLst>
          </p:cNvPr>
          <p:cNvSpPr txBox="1"/>
          <p:nvPr/>
        </p:nvSpPr>
        <p:spPr>
          <a:xfrm>
            <a:off x="4163641" y="1005245"/>
            <a:ext cx="3864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Sitka Banner" pitchFamily="2" charset="0"/>
              </a:rPr>
              <a:t>POST-PROCESSING</a:t>
            </a:r>
            <a:r>
              <a:rPr lang="en-US" sz="2800" u="sng" dirty="0">
                <a:latin typeface="Sitka Banner" pitchFamily="2" charset="0"/>
              </a:rPr>
              <a:t>: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F7617E-B33B-BC69-33EF-1FCCCCDFA301}"/>
              </a:ext>
            </a:extLst>
          </p:cNvPr>
          <p:cNvSpPr txBox="1"/>
          <p:nvPr/>
        </p:nvSpPr>
        <p:spPr>
          <a:xfrm>
            <a:off x="1662895" y="2067103"/>
            <a:ext cx="886620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Predicts maintenance probability based on model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Estimates maintenance date 2-3 weeks in advance.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Provides probability percentage for potential part failure.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Enhances predictive accuracy and allows proactive intervention.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Facilitates timely maintenance scheduling to minimize downtime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625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40172-9454-970D-78E0-839B4760C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Date Placeholder 181">
            <a:extLst>
              <a:ext uri="{FF2B5EF4-FFF2-40B4-BE49-F238E27FC236}">
                <a16:creationId xmlns:a16="http://schemas.microsoft.com/office/drawing/2014/main" id="{23728E32-6002-0A46-7528-27295E754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83" name="Footer Placeholder 182">
            <a:extLst>
              <a:ext uri="{FF2B5EF4-FFF2-40B4-BE49-F238E27FC236}">
                <a16:creationId xmlns:a16="http://schemas.microsoft.com/office/drawing/2014/main" id="{FADBF8E9-068D-08F0-5CB6-7F8E4D6C7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184" name="Slide Number Placeholder 183">
            <a:extLst>
              <a:ext uri="{FF2B5EF4-FFF2-40B4-BE49-F238E27FC236}">
                <a16:creationId xmlns:a16="http://schemas.microsoft.com/office/drawing/2014/main" id="{0588D861-9AEA-D9C0-313D-FBDBFA670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EE3E6D-9F28-052E-2646-D84F4D4775A1}"/>
              </a:ext>
            </a:extLst>
          </p:cNvPr>
          <p:cNvSpPr txBox="1"/>
          <p:nvPr/>
        </p:nvSpPr>
        <p:spPr>
          <a:xfrm>
            <a:off x="5002805" y="1005245"/>
            <a:ext cx="2186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Sitka Banner" pitchFamily="2" charset="0"/>
              </a:rPr>
              <a:t>BENEFITS</a:t>
            </a:r>
            <a:r>
              <a:rPr lang="en-US" sz="2800" dirty="0">
                <a:latin typeface="Sitka Banner" pitchFamily="2" charset="0"/>
              </a:rPr>
              <a:t>: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0D843C-72CE-318F-CD55-683422C1B950}"/>
              </a:ext>
            </a:extLst>
          </p:cNvPr>
          <p:cNvSpPr txBox="1"/>
          <p:nvPr/>
        </p:nvSpPr>
        <p:spPr>
          <a:xfrm>
            <a:off x="1365809" y="2067103"/>
            <a:ext cx="94603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itka Heading" pitchFamily="2" charset="0"/>
              </a:rPr>
              <a:t>PERFORMING MAINTAINENCE TIME TO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itka Heading" pitchFamily="2" charset="0"/>
              </a:rPr>
              <a:t>OPTIMIZES RESOURCES AND PREVENTS EMERGENCY REPAIRS BEFORE EMBARKING ON LONG JOURNEY.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itka Heading" pitchFamily="2" charset="0"/>
              </a:rPr>
              <a:t>SAFETY ENHANCEMENTS.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itka Heading" pitchFamily="2" charset="0"/>
              </a:rPr>
              <a:t>ENHANCING SUPPY CHAIN EFFICIENCY AND CUSTOMER SATISFACTION.</a:t>
            </a:r>
          </a:p>
          <a:p>
            <a:endParaRPr lang="en-US" sz="2400" dirty="0">
              <a:latin typeface="Sitka Heading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56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A37C-61B6-F5A0-6469-D9FA7F5E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Date Placeholder 181">
            <a:extLst>
              <a:ext uri="{FF2B5EF4-FFF2-40B4-BE49-F238E27FC236}">
                <a16:creationId xmlns:a16="http://schemas.microsoft.com/office/drawing/2014/main" id="{CDBD318D-6064-13FB-33A9-99EDE1F98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83" name="Footer Placeholder 182">
            <a:extLst>
              <a:ext uri="{FF2B5EF4-FFF2-40B4-BE49-F238E27FC236}">
                <a16:creationId xmlns:a16="http://schemas.microsoft.com/office/drawing/2014/main" id="{F043A897-D70A-12E5-3EC0-936A723A8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184" name="Slide Number Placeholder 183">
            <a:extLst>
              <a:ext uri="{FF2B5EF4-FFF2-40B4-BE49-F238E27FC236}">
                <a16:creationId xmlns:a16="http://schemas.microsoft.com/office/drawing/2014/main" id="{BB60C0B5-5BE3-A496-59B4-18968F716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B4B7A8-99B7-DE9E-ECEA-AA7A1FD4D619}"/>
              </a:ext>
            </a:extLst>
          </p:cNvPr>
          <p:cNvSpPr txBox="1"/>
          <p:nvPr/>
        </p:nvSpPr>
        <p:spPr>
          <a:xfrm>
            <a:off x="4734676" y="943718"/>
            <a:ext cx="2812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Sitka Banner" pitchFamily="2" charset="0"/>
              </a:rPr>
              <a:t>CONCLUSION</a:t>
            </a:r>
            <a:r>
              <a:rPr lang="en-US" sz="2800" dirty="0">
                <a:latin typeface="Sitka Banner" pitchFamily="2" charset="0"/>
              </a:rPr>
              <a:t>: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1971F5-D940-2E2A-68F0-7F8ED5B1E2B4}"/>
              </a:ext>
            </a:extLst>
          </p:cNvPr>
          <p:cNvSpPr txBox="1"/>
          <p:nvPr/>
        </p:nvSpPr>
        <p:spPr>
          <a:xfrm>
            <a:off x="1365808" y="2018818"/>
            <a:ext cx="94603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itka Heading" pitchFamily="2" charset="0"/>
              </a:rPr>
              <a:t>In conclusion, our project revolutionizes transportation maintenance by proactively addressing issues before they disrupt operations.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itka Heading" pitchFamily="2" charset="0"/>
              </a:rPr>
              <a:t>By leveraging AI, we minimize downtime, cut costs, and boost vehicle reliability.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itka Heading" pitchFamily="2" charset="0"/>
              </a:rPr>
              <a:t>This ensures a seamless flow of produce, enhancing efficiency and safety for all stakeholders.</a:t>
            </a:r>
          </a:p>
        </p:txBody>
      </p:sp>
    </p:spTree>
    <p:extLst>
      <p:ext uri="{BB962C8B-B14F-4D97-AF65-F5344CB8AC3E}">
        <p14:creationId xmlns:p14="http://schemas.microsoft.com/office/powerpoint/2010/main" val="213304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B3E8D-46A2-39BF-662E-DEEB776E9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Date Placeholder 181">
            <a:extLst>
              <a:ext uri="{FF2B5EF4-FFF2-40B4-BE49-F238E27FC236}">
                <a16:creationId xmlns:a16="http://schemas.microsoft.com/office/drawing/2014/main" id="{B047BBCA-D2BD-31D7-A6CA-4C8B97956F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83" name="Footer Placeholder 182">
            <a:extLst>
              <a:ext uri="{FF2B5EF4-FFF2-40B4-BE49-F238E27FC236}">
                <a16:creationId xmlns:a16="http://schemas.microsoft.com/office/drawing/2014/main" id="{15F1B616-2D05-CE79-9ED5-CF60DBD7C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184" name="Slide Number Placeholder 183">
            <a:extLst>
              <a:ext uri="{FF2B5EF4-FFF2-40B4-BE49-F238E27FC236}">
                <a16:creationId xmlns:a16="http://schemas.microsoft.com/office/drawing/2014/main" id="{22B8BD34-7DBC-BC7A-D005-257897867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344CA2-5004-0D1E-C672-F7F10FED5C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212" b="4472"/>
          <a:stretch/>
        </p:blipFill>
        <p:spPr>
          <a:xfrm>
            <a:off x="395468" y="725386"/>
            <a:ext cx="11401063" cy="540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53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A2870-1866-110A-D693-AB32E6A2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Date Placeholder 181">
            <a:extLst>
              <a:ext uri="{FF2B5EF4-FFF2-40B4-BE49-F238E27FC236}">
                <a16:creationId xmlns:a16="http://schemas.microsoft.com/office/drawing/2014/main" id="{CFF87F82-B72B-CB09-95C3-DC82408D8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83" name="Footer Placeholder 182">
            <a:extLst>
              <a:ext uri="{FF2B5EF4-FFF2-40B4-BE49-F238E27FC236}">
                <a16:creationId xmlns:a16="http://schemas.microsoft.com/office/drawing/2014/main" id="{9B9CFCC3-A868-2EE1-E485-F15B2EF2C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184" name="Slide Number Placeholder 183">
            <a:extLst>
              <a:ext uri="{FF2B5EF4-FFF2-40B4-BE49-F238E27FC236}">
                <a16:creationId xmlns:a16="http://schemas.microsoft.com/office/drawing/2014/main" id="{1C1E5F15-9A62-091A-E307-5A24EBFB8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6335C-CE07-FEAC-7F36-0639C897D5FF}"/>
              </a:ext>
            </a:extLst>
          </p:cNvPr>
          <p:cNvSpPr txBox="1"/>
          <p:nvPr/>
        </p:nvSpPr>
        <p:spPr>
          <a:xfrm>
            <a:off x="5176124" y="920569"/>
            <a:ext cx="1839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Sitka Banner" pitchFamily="2" charset="0"/>
              </a:rPr>
              <a:t>RESULT</a:t>
            </a:r>
            <a:r>
              <a:rPr lang="en-US" sz="2800" dirty="0">
                <a:latin typeface="Sitka Banner" pitchFamily="2" charset="0"/>
              </a:rPr>
              <a:t>: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31B07D-FCFC-20C5-0CCF-F5EBC7476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267" y="1843899"/>
            <a:ext cx="5029203" cy="41920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51376A-1A6F-0A02-AEEE-E1FFB9ADC0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" t="12971" r="13961" b="7661"/>
          <a:stretch/>
        </p:blipFill>
        <p:spPr>
          <a:xfrm>
            <a:off x="258792" y="1888938"/>
            <a:ext cx="6018262" cy="312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76499"/>
      </p:ext>
    </p:extLst>
  </p:cSld>
  <p:clrMapOvr>
    <a:masterClrMapping/>
  </p:clrMapOvr>
</p:sld>
</file>

<file path=ppt/theme/theme1.xml><?xml version="1.0" encoding="utf-8"?>
<a:theme xmlns:a="http://schemas.openxmlformats.org/drawingml/2006/main" name="PineVTI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ine_Win32_JB_SL_v2.potx" id="{3FE2ADD4-A665-4FB8-B8C0-7CA1C57550A1}" vid="{0ED6AE89-9D72-42A2-A52F-A4B3C658EF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506F55-A469-454B-8FCA-6F8BCF9DAA6B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90CBB4-731C-4440-BC54-D2076F57C8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0CC34A-D535-41BC-8B48-A0E1EA32D7E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Pine design</Template>
  <TotalTime>428</TotalTime>
  <Words>412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Dante</vt:lpstr>
      <vt:lpstr>Sitka Banner</vt:lpstr>
      <vt:lpstr>Sitka Heading</vt:lpstr>
      <vt:lpstr>PineVTI</vt:lpstr>
      <vt:lpstr>Explainable Fleet Maintenance Predictor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maintenance: ML-based soft-sensors in transportation operation.</dc:title>
  <dc:creator>RISHIKAANDH DEVADOSS</dc:creator>
  <cp:lastModifiedBy>MOHD FAISAL</cp:lastModifiedBy>
  <cp:revision>4</cp:revision>
  <dcterms:created xsi:type="dcterms:W3CDTF">2024-03-09T04:44:43Z</dcterms:created>
  <dcterms:modified xsi:type="dcterms:W3CDTF">2025-11-06T06:20:00Z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